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2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435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5417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367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770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0455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80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3102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9058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7471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449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5621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0475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957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564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019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415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599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907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4530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3387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3804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105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09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55344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DietWell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793790" y="387512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Personalised Nutrition &amp; Healthy Diet Planning System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49318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Final Year Project · Computer Science Engineering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112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Abhishek Kumar|2230723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60" y="730568"/>
            <a:ext cx="5847874" cy="731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744260" y="1760577"/>
            <a:ext cx="3728085" cy="3117056"/>
          </a:xfrm>
          <a:prstGeom prst="roundRect">
            <a:avLst>
              <a:gd name="adj" fmla="val 2865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4525" y="1980843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6237C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904" y="2156222"/>
            <a:ext cx="287060" cy="287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525" y="2818090"/>
            <a:ext cx="3276124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Unhealthy Eating Habits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964525" y="3303151"/>
            <a:ext cx="3287554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people lack awareness of what they consume daily, leading to poor long-term health outcomes.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4671655" y="1760577"/>
            <a:ext cx="3728085" cy="3117056"/>
          </a:xfrm>
          <a:prstGeom prst="roundRect">
            <a:avLst>
              <a:gd name="adj" fmla="val 2865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91921" y="1980843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6237C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7300" y="2156222"/>
            <a:ext cx="287060" cy="2870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91921" y="2818090"/>
            <a:ext cx="3287554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Personalised Guidance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4891921" y="3668673"/>
            <a:ext cx="328755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diet plans ignore individual health goals, allergies, and metabolic conditions.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744260" y="5076944"/>
            <a:ext cx="7655481" cy="2421969"/>
          </a:xfrm>
          <a:prstGeom prst="roundRect">
            <a:avLst>
              <a:gd name="adj" fmla="val 3688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64525" y="5297210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6237C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904" y="5472589"/>
            <a:ext cx="287060" cy="2870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4525" y="6134457"/>
            <a:ext cx="2934176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Information Overload</a:t>
            </a:r>
            <a:endParaRPr lang="en-US" sz="2300" dirty="0"/>
          </a:p>
        </p:txBody>
      </p:sp>
      <p:sp>
        <p:nvSpPr>
          <p:cNvPr id="18" name="Text 12"/>
          <p:cNvSpPr/>
          <p:nvPr/>
        </p:nvSpPr>
        <p:spPr>
          <a:xfrm>
            <a:off x="964525" y="6619518"/>
            <a:ext cx="721494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internet is flooded with conflicting dietary advice, making it impossible to find trustworthy, tailored plans.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25" y="1259443"/>
            <a:ext cx="8322350" cy="471594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35014" y="912495"/>
            <a:ext cx="2419469" cy="408384"/>
          </a:xfrm>
          <a:prstGeom prst="roundRect">
            <a:avLst>
              <a:gd name="adj" fmla="val 18079"/>
            </a:avLst>
          </a:prstGeom>
          <a:solidFill>
            <a:srgbClr val="E0D7F4"/>
          </a:solidFill>
          <a:ln/>
        </p:spPr>
      </p:sp>
      <p:sp>
        <p:nvSpPr>
          <p:cNvPr id="4" name="Text 1"/>
          <p:cNvSpPr/>
          <p:nvPr/>
        </p:nvSpPr>
        <p:spPr>
          <a:xfrm>
            <a:off x="9766816" y="978337"/>
            <a:ext cx="2155865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INTRODUCING DIETWELL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635014" y="1406009"/>
            <a:ext cx="4233863" cy="3020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900"/>
              </a:lnSpc>
              <a:buNone/>
            </a:pPr>
            <a:r>
              <a:rPr lang="en-US" sz="47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One Smart Platform. Tailored Nutrition.</a:t>
            </a:r>
            <a:endParaRPr lang="en-US" sz="4750" dirty="0"/>
          </a:p>
        </p:txBody>
      </p:sp>
      <p:sp>
        <p:nvSpPr>
          <p:cNvPr id="6" name="Text 3"/>
          <p:cNvSpPr/>
          <p:nvPr/>
        </p:nvSpPr>
        <p:spPr>
          <a:xfrm>
            <a:off x="9635014" y="4639628"/>
            <a:ext cx="4233863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DietWell harnesses the power of </a:t>
            </a:r>
            <a:r>
              <a:rPr lang="en-US" sz="1700" b="1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Language Models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generate dynamic, personalised diet plans based on each user's profile — and adapts them over time.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416" y="6807994"/>
            <a:ext cx="329565" cy="3295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3043" y="6801207"/>
            <a:ext cx="3472696" cy="75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Personalised AI Diet Plans</a:t>
            </a:r>
            <a:endParaRPr lang="en-US" sz="2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4115" y="6807994"/>
            <a:ext cx="329565" cy="3295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35742" y="6801207"/>
            <a:ext cx="3472815" cy="75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Calorie &amp; Nutrition Tracking</a:t>
            </a:r>
            <a:endParaRPr lang="en-US" sz="2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6934" y="6807994"/>
            <a:ext cx="329565" cy="32956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388560" y="6801207"/>
            <a:ext cx="3472696" cy="75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Adaptive Recommendations</a:t>
            </a:r>
            <a:endParaRPr lang="en-US" sz="2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0971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4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334220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71336"/>
            <a:ext cx="3989903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Personalised Meal Planning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93790" y="359735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plans tailored to age, weight, goals, and dietary restrictions.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334220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07133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Calorie Tracking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5235893" y="359735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intake monitoring with macro breakdowns per meal and per day.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334220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07133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Nutrition Monitoring</a:t>
            </a:r>
            <a:endParaRPr lang="en-US" sz="2450" dirty="0"/>
          </a:p>
        </p:txBody>
      </p:sp>
      <p:sp>
        <p:nvSpPr>
          <p:cNvPr id="11" name="Text 6"/>
          <p:cNvSpPr/>
          <p:nvPr/>
        </p:nvSpPr>
        <p:spPr>
          <a:xfrm>
            <a:off x="9677995" y="359735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proteins, carbs, fats, vitamins, and minerals in real time.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77678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51390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Progress Dashboard</a:t>
            </a:r>
            <a:endParaRPr lang="en-US" sz="2450" dirty="0"/>
          </a:p>
        </p:txBody>
      </p:sp>
      <p:sp>
        <p:nvSpPr>
          <p:cNvPr id="14" name="Text 8"/>
          <p:cNvSpPr/>
          <p:nvPr/>
        </p:nvSpPr>
        <p:spPr>
          <a:xfrm>
            <a:off x="793790" y="603992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insights into health trends, goal completion, and weekly summaries.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4776788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51390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Adaptive AI</a:t>
            </a:r>
            <a:endParaRPr lang="en-US" sz="2450" dirty="0"/>
          </a:p>
        </p:txBody>
      </p:sp>
      <p:sp>
        <p:nvSpPr>
          <p:cNvPr id="17" name="Text 10"/>
          <p:cNvSpPr/>
          <p:nvPr/>
        </p:nvSpPr>
        <p:spPr>
          <a:xfrm>
            <a:off x="5235893" y="6039922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evolve with user feedback and logged progress for continuous improvement.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43639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60" y="1429583"/>
            <a:ext cx="12227362" cy="55958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58065" y="2151593"/>
            <a:ext cx="2975313" cy="37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&amp; Data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158065" y="2619679"/>
            <a:ext cx="2981324" cy="4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API / LLaMA3 inference over PostgreSQL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490587" y="3990877"/>
            <a:ext cx="2740894" cy="37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 API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490587" y="4458963"/>
            <a:ext cx="2740894" cy="4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REST services and business logic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158065" y="4940573"/>
            <a:ext cx="2975313" cy="37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158065" y="5408659"/>
            <a:ext cx="2981324" cy="4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with Vite for fast SPA delivery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01460" y="7181136"/>
            <a:ext cx="1222736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 </a:t>
            </a:r>
            <a:r>
              <a:rPr lang="en-US" sz="1350" b="1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Client-Server architecture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separates concerns across four layers — ensuring scalability, maintainability, and secure AI integration through a dedicated Groq API service layer.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8007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 Stack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3381256"/>
            <a:ext cx="13042821" cy="2700338"/>
          </a:xfrm>
          <a:prstGeom prst="roundRect">
            <a:avLst>
              <a:gd name="adj" fmla="val 3528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388876"/>
            <a:ext cx="4342448" cy="1342549"/>
          </a:xfrm>
          <a:prstGeom prst="roundRect">
            <a:avLst>
              <a:gd name="adj" fmla="val 7096"/>
            </a:avLst>
          </a:prstGeom>
          <a:solidFill>
            <a:srgbClr val="E0D7F4"/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3615690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028224" y="4141708"/>
            <a:ext cx="35486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· Java 21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3857" y="3388876"/>
            <a:ext cx="4342567" cy="1342549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8" name="Shape 6"/>
          <p:cNvSpPr/>
          <p:nvPr/>
        </p:nvSpPr>
        <p:spPr>
          <a:xfrm>
            <a:off x="5143857" y="3388876"/>
            <a:ext cx="30480" cy="1342549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9" name="Text 7"/>
          <p:cNvSpPr/>
          <p:nvPr/>
        </p:nvSpPr>
        <p:spPr>
          <a:xfrm>
            <a:off x="5710833" y="3615690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5710833" y="4141708"/>
            <a:ext cx="320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· BCrypt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4860369" y="3776663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DFAF7"/>
          </a:solidFill>
          <a:ln w="30480">
            <a:solidFill>
              <a:srgbClr val="C6BDDA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2054" y="3918347"/>
            <a:ext cx="283488" cy="28348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486424" y="3388876"/>
            <a:ext cx="4342567" cy="1342549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14" name="Shape 11"/>
          <p:cNvSpPr/>
          <p:nvPr/>
        </p:nvSpPr>
        <p:spPr>
          <a:xfrm>
            <a:off x="9486424" y="3388876"/>
            <a:ext cx="30480" cy="1342549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3399" y="3615690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2450" dirty="0"/>
          </a:p>
        </p:txBody>
      </p:sp>
      <p:sp>
        <p:nvSpPr>
          <p:cNvPr id="16" name="Text 13"/>
          <p:cNvSpPr/>
          <p:nvPr/>
        </p:nvSpPr>
        <p:spPr>
          <a:xfrm>
            <a:off x="10053399" y="4141708"/>
            <a:ext cx="35487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· Vite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9202936" y="3776663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DFAF7"/>
          </a:solidFill>
          <a:ln w="30480">
            <a:solidFill>
              <a:srgbClr val="C6BDDA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4620" y="3918347"/>
            <a:ext cx="283488" cy="2834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01410" y="4731425"/>
            <a:ext cx="6513790" cy="1342549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20" name="Shape 16"/>
          <p:cNvSpPr/>
          <p:nvPr/>
        </p:nvSpPr>
        <p:spPr>
          <a:xfrm>
            <a:off x="801410" y="4731425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21" name="Text 17"/>
          <p:cNvSpPr/>
          <p:nvPr/>
        </p:nvSpPr>
        <p:spPr>
          <a:xfrm>
            <a:off x="1028224" y="4958239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2450" dirty="0"/>
          </a:p>
        </p:txBody>
      </p:sp>
      <p:sp>
        <p:nvSpPr>
          <p:cNvPr id="22" name="Text 18"/>
          <p:cNvSpPr/>
          <p:nvPr/>
        </p:nvSpPr>
        <p:spPr>
          <a:xfrm>
            <a:off x="1028224" y="5484257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750" dirty="0"/>
          </a:p>
        </p:txBody>
      </p:sp>
      <p:sp>
        <p:nvSpPr>
          <p:cNvPr id="23" name="Shape 19"/>
          <p:cNvSpPr/>
          <p:nvPr/>
        </p:nvSpPr>
        <p:spPr>
          <a:xfrm>
            <a:off x="7315200" y="4731425"/>
            <a:ext cx="6513790" cy="1342549"/>
          </a:xfrm>
          <a:prstGeom prst="rect">
            <a:avLst/>
          </a:prstGeom>
          <a:solidFill>
            <a:srgbClr val="E0D7F4"/>
          </a:solidFill>
          <a:ln/>
        </p:spPr>
      </p:sp>
      <p:sp>
        <p:nvSpPr>
          <p:cNvPr id="24" name="Shape 20"/>
          <p:cNvSpPr/>
          <p:nvPr/>
        </p:nvSpPr>
        <p:spPr>
          <a:xfrm>
            <a:off x="7315200" y="4731425"/>
            <a:ext cx="30480" cy="1342549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25" name="Shape 21"/>
          <p:cNvSpPr/>
          <p:nvPr/>
        </p:nvSpPr>
        <p:spPr>
          <a:xfrm>
            <a:off x="7315200" y="4731425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C6BDDA"/>
          </a:solidFill>
          <a:ln/>
        </p:spPr>
      </p:sp>
      <p:sp>
        <p:nvSpPr>
          <p:cNvPr id="26" name="Text 22"/>
          <p:cNvSpPr/>
          <p:nvPr/>
        </p:nvSpPr>
        <p:spPr>
          <a:xfrm>
            <a:off x="7882176" y="4958239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Model</a:t>
            </a:r>
            <a:endParaRPr lang="en-US" sz="2450" dirty="0"/>
          </a:p>
        </p:txBody>
      </p:sp>
      <p:sp>
        <p:nvSpPr>
          <p:cNvPr id="27" name="Text 23"/>
          <p:cNvSpPr/>
          <p:nvPr/>
        </p:nvSpPr>
        <p:spPr>
          <a:xfrm>
            <a:off x="7882176" y="5484257"/>
            <a:ext cx="572000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API · LLaMA3</a:t>
            </a:r>
            <a:endParaRPr lang="en-US" sz="1750" dirty="0"/>
          </a:p>
        </p:txBody>
      </p:sp>
      <p:sp>
        <p:nvSpPr>
          <p:cNvPr id="28" name="Shape 24"/>
          <p:cNvSpPr/>
          <p:nvPr/>
        </p:nvSpPr>
        <p:spPr>
          <a:xfrm>
            <a:off x="7031712" y="5119211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DFAF7"/>
          </a:solidFill>
          <a:ln w="30480">
            <a:solidFill>
              <a:srgbClr val="C6BDDA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3397" y="5260896"/>
            <a:ext cx="283488" cy="283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771644"/>
            <a:ext cx="6851213" cy="694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Design &amp; Data Flow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21" y="1938218"/>
            <a:ext cx="7815620" cy="53173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0435" y="5914236"/>
            <a:ext cx="1615474" cy="33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Controller</a:t>
            </a:r>
            <a:endParaRPr lang="en-US" sz="2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4387" y="4201473"/>
            <a:ext cx="534925" cy="5349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55634" y="5411406"/>
            <a:ext cx="1615474" cy="33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Service</a:t>
            </a:r>
            <a:endParaRPr lang="en-US" sz="2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8720" y="3698643"/>
            <a:ext cx="534925" cy="5349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59967" y="4908577"/>
            <a:ext cx="1615473" cy="33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Repository</a:t>
            </a:r>
            <a:endParaRPr lang="en-US" sz="2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3053" y="3195814"/>
            <a:ext cx="534925" cy="5349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53435" y="4405747"/>
            <a:ext cx="1615473" cy="33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2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97387" y="2692984"/>
            <a:ext cx="534925" cy="5349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25608" y="1935956"/>
            <a:ext cx="3389948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 Component Flow</a:t>
            </a:r>
            <a:endParaRPr lang="en-US" sz="2150" dirty="0"/>
          </a:p>
        </p:txBody>
      </p:sp>
      <p:sp>
        <p:nvSpPr>
          <p:cNvPr id="13" name="Text 6"/>
          <p:cNvSpPr/>
          <p:nvPr/>
        </p:nvSpPr>
        <p:spPr>
          <a:xfrm>
            <a:off x="9625608" y="2485549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550" dirty="0"/>
          </a:p>
        </p:txBody>
      </p:sp>
      <p:sp>
        <p:nvSpPr>
          <p:cNvPr id="14" name="Shape 7"/>
          <p:cNvSpPr/>
          <p:nvPr/>
        </p:nvSpPr>
        <p:spPr>
          <a:xfrm>
            <a:off x="9625608" y="2805946"/>
            <a:ext cx="4305300" cy="2286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5" name="Text 8"/>
          <p:cNvSpPr/>
          <p:nvPr/>
        </p:nvSpPr>
        <p:spPr>
          <a:xfrm>
            <a:off x="9625608" y="2952631"/>
            <a:ext cx="3908346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fills profile &amp; health form</a:t>
            </a:r>
            <a:endParaRPr lang="en-US" sz="2150" dirty="0"/>
          </a:p>
        </p:txBody>
      </p:sp>
      <p:sp>
        <p:nvSpPr>
          <p:cNvPr id="16" name="Text 9"/>
          <p:cNvSpPr/>
          <p:nvPr/>
        </p:nvSpPr>
        <p:spPr>
          <a:xfrm>
            <a:off x="9625608" y="3631168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7" name="Shape 10"/>
          <p:cNvSpPr/>
          <p:nvPr/>
        </p:nvSpPr>
        <p:spPr>
          <a:xfrm>
            <a:off x="9625608" y="3951565"/>
            <a:ext cx="4305300" cy="2286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8" name="Text 11"/>
          <p:cNvSpPr/>
          <p:nvPr/>
        </p:nvSpPr>
        <p:spPr>
          <a:xfrm>
            <a:off x="9625608" y="4098250"/>
            <a:ext cx="4258389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React sends API request via Axios</a:t>
            </a:r>
            <a:endParaRPr lang="en-US" sz="2150" dirty="0"/>
          </a:p>
        </p:txBody>
      </p:sp>
      <p:sp>
        <p:nvSpPr>
          <p:cNvPr id="19" name="Text 12"/>
          <p:cNvSpPr/>
          <p:nvPr/>
        </p:nvSpPr>
        <p:spPr>
          <a:xfrm>
            <a:off x="9625608" y="4776788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9625608" y="5097185"/>
            <a:ext cx="4305300" cy="2286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1" name="Text 14"/>
          <p:cNvSpPr/>
          <p:nvPr/>
        </p:nvSpPr>
        <p:spPr>
          <a:xfrm>
            <a:off x="9625608" y="5243870"/>
            <a:ext cx="3685937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 validates JWT token</a:t>
            </a:r>
            <a:endParaRPr lang="en-US" sz="2150" dirty="0"/>
          </a:p>
        </p:txBody>
      </p:sp>
      <p:sp>
        <p:nvSpPr>
          <p:cNvPr id="22" name="Text 15"/>
          <p:cNvSpPr/>
          <p:nvPr/>
        </p:nvSpPr>
        <p:spPr>
          <a:xfrm>
            <a:off x="9625608" y="5922407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550" dirty="0"/>
          </a:p>
        </p:txBody>
      </p:sp>
      <p:sp>
        <p:nvSpPr>
          <p:cNvPr id="23" name="Shape 16"/>
          <p:cNvSpPr/>
          <p:nvPr/>
        </p:nvSpPr>
        <p:spPr>
          <a:xfrm>
            <a:off x="9625608" y="6242804"/>
            <a:ext cx="4305300" cy="2286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4" name="Text 17"/>
          <p:cNvSpPr/>
          <p:nvPr/>
        </p:nvSpPr>
        <p:spPr>
          <a:xfrm>
            <a:off x="9625608" y="6389489"/>
            <a:ext cx="4305300" cy="694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plan returned &amp; rendered in dashboard</a:t>
            </a:r>
            <a:endParaRPr lang="en-US" sz="2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26494"/>
            <a:ext cx="4970621" cy="62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Schema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525667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525667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156704"/>
            <a:ext cx="248531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Schema Highlights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543205" y="3611166"/>
            <a:ext cx="6015395" cy="119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stores credentials, health profile, and dietary goals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DietPlans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persists AI-generated plans as structured JSON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Foreign key constraint enforces user-plan integrity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Timestamps support progress tracking and plan versioning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43205" y="4963358"/>
            <a:ext cx="6015395" cy="928568"/>
          </a:xfrm>
          <a:prstGeom prst="roundRect">
            <a:avLst>
              <a:gd name="adj" fmla="val 8176"/>
            </a:avLst>
          </a:prstGeom>
          <a:solidFill>
            <a:srgbClr val="B6D6FC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942" y="5221486"/>
            <a:ext cx="225862" cy="180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0540" y="5152430"/>
            <a:ext cx="52473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are stored as JSON blobs, enabling flexible AI output structures without schema migrations.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8718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API Endpoints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2401967"/>
            <a:ext cx="13042821" cy="4658916"/>
          </a:xfrm>
          <a:prstGeom prst="roundRect">
            <a:avLst>
              <a:gd name="adj" fmla="val 20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462" y="255329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3637717" y="2553295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591770" y="2553295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151388" y="2553295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Required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462" y="3211235"/>
            <a:ext cx="214800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637717" y="3211235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591770" y="3211235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user registration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151388" y="3211235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8462" y="3876794"/>
            <a:ext cx="214800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637717" y="3876794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591770" y="387679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&amp; issue JWT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151388" y="387679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28462" y="4542353"/>
            <a:ext cx="214800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/api/diet/generate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637717" y="454235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591770" y="454235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AI diet plan via Groq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151388" y="454235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28462" y="5207913"/>
            <a:ext cx="214800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/api/diet/plans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637717" y="5207913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591770" y="520791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all saved plans for user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151388" y="520791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28462" y="5873472"/>
            <a:ext cx="214800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/api/diet/progress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3637717" y="587347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591770" y="587347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&amp; analyse progress data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151388" y="587347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28462" y="6539032"/>
            <a:ext cx="2148007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/api/diet/adjust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3637717" y="6539032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5591770" y="653903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plan based on feedback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0151388" y="653903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6246" y="566738"/>
            <a:ext cx="5579745" cy="657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&amp; Solutions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156246" y="1466731"/>
            <a:ext cx="7804309" cy="1426012"/>
          </a:xfrm>
          <a:prstGeom prst="roundRect">
            <a:avLst>
              <a:gd name="adj" fmla="val 7695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33386" y="1466731"/>
            <a:ext cx="91440" cy="1426012"/>
          </a:xfrm>
          <a:prstGeom prst="roundRect">
            <a:avLst>
              <a:gd name="adj" fmla="val 87907"/>
            </a:avLst>
          </a:prstGeom>
          <a:solidFill>
            <a:srgbClr val="6237C8"/>
          </a:solidFill>
          <a:ln/>
        </p:spPr>
      </p:sp>
      <p:sp>
        <p:nvSpPr>
          <p:cNvPr id="6" name="Text 3"/>
          <p:cNvSpPr/>
          <p:nvPr/>
        </p:nvSpPr>
        <p:spPr>
          <a:xfrm>
            <a:off x="6439019" y="1680924"/>
            <a:ext cx="6338054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🔴</a:t>
            </a: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AI Inconsistent Output → </a:t>
            </a: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✅</a:t>
            </a: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Markdown Stripping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439019" y="2114193"/>
            <a:ext cx="730734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LLaMA3 returned raw markdown in JSON fields. A custom sanitisation layer strips symbols before parsing, ensuring clean structured data.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56246" y="3054191"/>
            <a:ext cx="7804309" cy="1426012"/>
          </a:xfrm>
          <a:prstGeom prst="roundRect">
            <a:avLst>
              <a:gd name="adj" fmla="val 7695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33386" y="3054191"/>
            <a:ext cx="91440" cy="1426012"/>
          </a:xfrm>
          <a:prstGeom prst="roundRect">
            <a:avLst>
              <a:gd name="adj" fmla="val 87907"/>
            </a:avLst>
          </a:prstGeom>
          <a:solidFill>
            <a:srgbClr val="6237C8"/>
          </a:solidFill>
          <a:ln/>
        </p:spPr>
      </p:sp>
      <p:sp>
        <p:nvSpPr>
          <p:cNvPr id="10" name="Text 7"/>
          <p:cNvSpPr/>
          <p:nvPr/>
        </p:nvSpPr>
        <p:spPr>
          <a:xfrm>
            <a:off x="6439019" y="3268385"/>
            <a:ext cx="6104215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🔴</a:t>
            </a: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API Rate Limits → </a:t>
            </a: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✅</a:t>
            </a: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Resource Validation Layer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6439019" y="3701653"/>
            <a:ext cx="730734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Groq API throttling was handled via request queuing and user-side rate guards to prevent failures silently.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56246" y="4641652"/>
            <a:ext cx="7804309" cy="1426012"/>
          </a:xfrm>
          <a:prstGeom prst="roundRect">
            <a:avLst>
              <a:gd name="adj" fmla="val 7695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33386" y="4641652"/>
            <a:ext cx="91440" cy="1426012"/>
          </a:xfrm>
          <a:prstGeom prst="roundRect">
            <a:avLst>
              <a:gd name="adj" fmla="val 87907"/>
            </a:avLst>
          </a:prstGeom>
          <a:solidFill>
            <a:srgbClr val="6237C8"/>
          </a:solidFill>
          <a:ln/>
        </p:spPr>
      </p:sp>
      <p:sp>
        <p:nvSpPr>
          <p:cNvPr id="14" name="Text 11"/>
          <p:cNvSpPr/>
          <p:nvPr/>
        </p:nvSpPr>
        <p:spPr>
          <a:xfrm>
            <a:off x="6439019" y="4855845"/>
            <a:ext cx="5361027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🔴</a:t>
            </a: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React State Bugs → </a:t>
            </a: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✅</a:t>
            </a: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Deep Copy Updates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439019" y="5289113"/>
            <a:ext cx="730734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Shallow state mutations caused stale renders. Replacing with deep copy patterns using spread operators resolved UI inconsistencies.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56246" y="6229112"/>
            <a:ext cx="7804309" cy="1433632"/>
          </a:xfrm>
          <a:prstGeom prst="roundRect">
            <a:avLst>
              <a:gd name="adj" fmla="val 7654"/>
            </a:avLst>
          </a:prstGeom>
          <a:solidFill>
            <a:srgbClr val="FDFAF7"/>
          </a:solidFill>
          <a:ln w="22860">
            <a:solidFill>
              <a:srgbClr val="C6BD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33386" y="6229112"/>
            <a:ext cx="91440" cy="1433632"/>
          </a:xfrm>
          <a:prstGeom prst="roundRect">
            <a:avLst>
              <a:gd name="adj" fmla="val 87907"/>
            </a:avLst>
          </a:prstGeom>
          <a:solidFill>
            <a:srgbClr val="6237C8"/>
          </a:solidFill>
          <a:ln/>
        </p:spPr>
      </p:sp>
      <p:sp>
        <p:nvSpPr>
          <p:cNvPr id="18" name="Text 15"/>
          <p:cNvSpPr/>
          <p:nvPr/>
        </p:nvSpPr>
        <p:spPr>
          <a:xfrm>
            <a:off x="6439019" y="6443305"/>
            <a:ext cx="6704409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🔴</a:t>
            </a: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Spring Circular Dependency → </a:t>
            </a: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✅</a:t>
            </a: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@Lazy Annotation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6439019" y="6876574"/>
            <a:ext cx="7307342" cy="57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Bean injection cycles between services were resolved using Spring's </a:t>
            </a:r>
            <a:r>
              <a:rPr lang="en-US" sz="150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@Lazy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annotation to defer initialisation.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588</Words>
  <Application>Microsoft Office PowerPoint</Application>
  <PresentationFormat>Custom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Consolas</vt:lpstr>
      <vt:lpstr>Arial</vt:lpstr>
      <vt:lpstr>Calibri Light</vt:lpstr>
      <vt:lpstr>Petrona Bold</vt:lpstr>
      <vt:lpstr>Inter</vt:lpstr>
      <vt:lpstr>Calibri</vt:lpstr>
      <vt:lpstr>Petrona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Jatin Sood</cp:lastModifiedBy>
  <cp:revision>2</cp:revision>
  <dcterms:created xsi:type="dcterms:W3CDTF">2026-04-17T07:34:45Z</dcterms:created>
  <dcterms:modified xsi:type="dcterms:W3CDTF">2026-04-17T07:36:20Z</dcterms:modified>
</cp:coreProperties>
</file>